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s/kit/logo_blanc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9052560" y="822960"/>
            <a:ext cx="4023360" cy="4517136"/>
          </a:xfrm>
          <a:prstGeom prst="rect">
            <a:avLst/>
          </a:prstGeom>
        </p:spPr>
      </p:pic>
      <p:pic>
        <p:nvPicPr>
          <p:cNvPr id="3" name="Image 1" descr="assets/photos/kit/logo_bla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57200"/>
            <a:ext cx="475488" cy="53035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70432" y="4846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endParaRPr lang="en-US" sz="1700" dirty="0"/>
          </a:p>
        </p:txBody>
      </p:sp>
      <p:sp>
        <p:nvSpPr>
          <p:cNvPr id="5" name="Text 1"/>
          <p:cNvSpPr/>
          <p:nvPr/>
        </p:nvSpPr>
        <p:spPr>
          <a:xfrm>
            <a:off x="566928" y="18470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</a:t>
            </a:r>
            <a:endParaRPr lang="en-US" sz="1150" dirty="0"/>
          </a:p>
        </p:txBody>
      </p:sp>
      <p:sp>
        <p:nvSpPr>
          <p:cNvPr id="6" name="Text 2"/>
          <p:cNvSpPr/>
          <p:nvPr/>
        </p:nvSpPr>
        <p:spPr>
          <a:xfrm>
            <a:off x="566928" y="2212848"/>
            <a:ext cx="8321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1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entreprise s'engage pour la
</a:t>
            </a:r>
            <a:pPr indent="0" marL="0">
              <a:lnSpc>
                <a:spcPts val="4100"/>
              </a:lnSpc>
              <a:buNone/>
            </a:pPr>
            <a:r>
              <a:rPr lang="en-US" sz="3400" i="1" dirty="0">
                <a:solidFill>
                  <a:srgbClr val="29B1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prévention du cancer cutané.</a:t>
            </a:r>
            <a:endParaRPr lang="en-US" sz="3400" dirty="0"/>
          </a:p>
        </p:txBody>
      </p:sp>
      <p:sp>
        <p:nvSpPr>
          <p:cNvPr id="7" name="Text 3"/>
          <p:cNvSpPr/>
          <p:nvPr/>
        </p:nvSpPr>
        <p:spPr>
          <a:xfrm>
            <a:off x="566928" y="387705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9B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ce qu'il faut savoir sur votre journée de dépistage en téléexpertise.</a:t>
            </a:r>
            <a:endParaRPr lang="en-US" sz="1400" dirty="0"/>
          </a:p>
        </p:txBody>
      </p:sp>
      <p:sp>
        <p:nvSpPr>
          <p:cNvPr id="8" name="LOGO_CLIENT"/>
          <p:cNvSpPr/>
          <p:nvPr/>
        </p:nvSpPr>
        <p:spPr>
          <a:xfrm>
            <a:off x="566928" y="4617720"/>
            <a:ext cx="3200400" cy="1170432"/>
          </a:xfrm>
          <a:prstGeom prst="roundRect">
            <a:avLst>
              <a:gd name="adj" fmla="val 4688"/>
            </a:avLst>
          </a:prstGeom>
          <a:solidFill>
            <a:srgbClr val="142A33"/>
          </a:solidFill>
          <a:ln w="9525">
            <a:solidFill>
              <a:srgbClr val="3A555F"/>
            </a:solidFill>
            <a:prstDash val="dash"/>
          </a:ln>
        </p:spPr>
      </p:sp>
      <p:sp>
        <p:nvSpPr>
          <p:cNvPr id="9" name="LOGO_CLIENT_TEXTE"/>
          <p:cNvSpPr/>
          <p:nvPr/>
        </p:nvSpPr>
        <p:spPr>
          <a:xfrm>
            <a:off x="566928" y="4617720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 votre entreprise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968496" y="4617720"/>
            <a:ext cx="4462272" cy="1170432"/>
          </a:xfrm>
          <a:prstGeom prst="roundRect">
            <a:avLst>
              <a:gd name="adj" fmla="val 4688"/>
            </a:avLst>
          </a:prstGeom>
          <a:solidFill>
            <a:srgbClr val="142A33"/>
          </a:solidFill>
          <a:ln w="9525">
            <a:solidFill>
              <a:srgbClr val="3A555F"/>
            </a:solidFill>
            <a:prstDash val="dash"/>
          </a:ln>
        </p:spPr>
      </p:sp>
      <p:sp>
        <p:nvSpPr>
          <p:cNvPr id="11" name="Text 7"/>
          <p:cNvSpPr/>
          <p:nvPr/>
        </p:nvSpPr>
        <p:spPr>
          <a:xfrm>
            <a:off x="3968496" y="4617720"/>
            <a:ext cx="446227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E9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clé de votre campagne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LE CANCER DE LA PEAU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précocité du dépistage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le pronostic.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42646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cancer de la peau est le cancer le plus fréquent en France. Repéré tôt, il se traite dans la très grande majorité des cas.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529584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239572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200 000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77824" y="320040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cancers de la peau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16552" y="2157984"/>
            <a:ext cx="3529584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27448" y="239572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20 000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727448" y="320040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nouveaux mélanomes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détectés par 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66176" y="2157984"/>
            <a:ext cx="3529584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77072" y="239572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2 000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577072" y="3200400"/>
            <a:ext cx="2907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décès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Institut National du Cancer.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4718304"/>
            <a:ext cx="11057839" cy="1225296"/>
          </a:xfrm>
          <a:prstGeom prst="roundRect">
            <a:avLst>
              <a:gd name="adj" fmla="val 3731"/>
            </a:avLst>
          </a:prstGeom>
          <a:solidFill>
            <a:srgbClr val="EAF6FB"/>
          </a:solidFill>
          <a:ln w="9525">
            <a:solidFill>
              <a:srgbClr val="CB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718304"/>
            <a:ext cx="10399471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dépistage sur votre lieu de travail.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entreprise met à votre disposition une journée de dépistage des tumeurs cutanées, réalisée en téléexpertise par des dermatologues.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LES ÉTAPES CLÉS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Votre dépistage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quatre étapes.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688336" cy="31272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9536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de rendez-vous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343814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Auprès de vos ressources humaines.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538728" y="1737360"/>
            <a:ext cx="2688336" cy="31272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313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11" name="Text 9"/>
          <p:cNvSpPr/>
          <p:nvPr/>
        </p:nvSpPr>
        <p:spPr>
          <a:xfrm>
            <a:off x="38313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31336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 votre visite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31336" y="343814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Auto-examen de votre peau en suivant la règle ABCDE.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10528" y="1737360"/>
            <a:ext cx="2688336" cy="31272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031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16" name="Text 14"/>
          <p:cNvSpPr/>
          <p:nvPr/>
        </p:nvSpPr>
        <p:spPr>
          <a:xfrm>
            <a:off x="68031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803136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Journée de dépistage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03136" y="343814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 individuel avec un professionnel de santé, incluant un examen au dermatoscope.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82328" y="1737360"/>
            <a:ext cx="2688336" cy="3127248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4936" y="2011680"/>
            <a:ext cx="566928" cy="566928"/>
          </a:xfrm>
          <a:prstGeom prst="ellipse">
            <a:avLst/>
          </a:prstGeom>
          <a:solidFill>
            <a:srgbClr val="0CA6DF"/>
          </a:solidFill>
          <a:ln/>
        </p:spPr>
      </p:sp>
      <p:sp>
        <p:nvSpPr>
          <p:cNvPr id="21" name="Text 19"/>
          <p:cNvSpPr/>
          <p:nvPr/>
        </p:nvSpPr>
        <p:spPr>
          <a:xfrm>
            <a:off x="97749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774936" y="276148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sur la plateforme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74936" y="3438144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orientations possibles selon ce que voit le dermatologue.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513892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dépistage est entièrement volontaire et dure en moyenne moins de 15 minutes.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AVANT LE RENDEZ-VOUS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Quelques minutes de préparation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suffisent.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773936"/>
            <a:ext cx="6858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Auto-examen cutané</a:t>
            </a:r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suivant la règle ABCDE, page suivante.</a:t>
            </a:r>
            <a:endParaRPr lang="en-US" sz="145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S'examiner de la tête aux pieds</a:t>
            </a:r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sans oublier les plantes de pieds et le cuir chevelu.</a:t>
            </a:r>
            <a:endParaRPr lang="en-US" sz="145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faire aider par son entourage</a:t>
            </a:r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zones que vous ne voyez pas.</a:t>
            </a:r>
            <a:endParaRPr lang="en-US" sz="1450" dirty="0"/>
          </a:p>
          <a:p>
            <a:pPr marL="203200" indent="-2032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vos antécédents</a:t>
            </a:r>
            <a:pPr indent="0" marL="0">
              <a:lnSpc>
                <a:spcPts val="22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en particulier familiaux de cancers cutanés, et vos traitements des 3 derniers mois.</a:t>
            </a:r>
            <a:endParaRPr lang="en-US" sz="1450" dirty="0"/>
          </a:p>
        </p:txBody>
      </p:sp>
      <p:pic>
        <p:nvPicPr>
          <p:cNvPr id="5" name="Image 0" descr="assets/photos/kit/photo_autoexam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1737360"/>
            <a:ext cx="3703320" cy="3703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18704" y="5541264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L'auto-examen se fait à la lumière du jour, devant un miroir.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 RÈGLE ABCDE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critères pour repérer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lésion suspecte.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7406640" cy="4096512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pic>
        <p:nvPicPr>
          <p:cNvPr id="5" name="Image 0" descr="assets/photos/kit/abc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1964875"/>
            <a:ext cx="6446520" cy="35683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8723376" y="18105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Asymétrie de la lésion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8723376" y="25237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Bords irréguliers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8723376" y="323697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non homogène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2960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8723376" y="39502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Diamètre supérieur à 6 mm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8723376" y="4663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dans le temps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0" y="5266944"/>
            <a:ext cx="3401568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0" y="5394960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critère suffit à justifier un avis. Ne cherchez pas à conclure vous-même.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LE JOUR J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examen court, non invasif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confidentiel.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DÉROULÉ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2066544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professionnel de santé formé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réalise le dépistage.</a:t>
            </a:r>
            <a:endParaRPr lang="en-US" sz="1350" dirty="0"/>
          </a:p>
          <a:p>
            <a:pPr marL="203200" indent="-2032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non invasif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dans un cadre confidentiel.</a:t>
            </a:r>
            <a:endParaRPr lang="en-US" sz="1350" dirty="0"/>
          </a:p>
          <a:p>
            <a:pPr marL="203200" indent="-2032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lettre de consentement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vous est remise pour signature.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882896" y="17373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À APPORTER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882896" y="2066544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carte Vitale</a:t>
            </a:r>
            <a:endParaRPr lang="en-US" sz="1350" dirty="0"/>
          </a:p>
          <a:p>
            <a:pPr marL="203200" indent="-2032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d'identité</a:t>
            </a:r>
            <a:endParaRPr lang="en-US" sz="1350" dirty="0"/>
          </a:p>
          <a:p>
            <a:pPr marL="203200" indent="-2032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d'information et de consentement</a:t>
            </a:r>
            <a:pPr indent="0" marL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un acte de télémédecine, transmis par vos RH.</a:t>
            </a:r>
            <a:endParaRPr lang="en-US" sz="1350" dirty="0"/>
          </a:p>
        </p:txBody>
      </p:sp>
      <p:pic>
        <p:nvPicPr>
          <p:cNvPr id="8" name="Image 0" descr="assets/photos/kit/photo_decolle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5712" y="1700784"/>
            <a:ext cx="2496312" cy="1426464"/>
          </a:xfrm>
          <a:prstGeom prst="rect">
            <a:avLst/>
          </a:prstGeom>
        </p:spPr>
      </p:pic>
      <p:pic>
        <p:nvPicPr>
          <p:cNvPr id="9" name="Image 1" descr="assets/photos/kit/photo_lev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712" y="3200400"/>
            <a:ext cx="2496312" cy="16642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25712" y="4956048"/>
            <a:ext cx="2496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photographies de vos grains de beauté sont prises, puis analysées à distance par un dermatologue.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VOS RÉSULTATS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Accessibles en ligne,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 confidentiels.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Y ACCÉDER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20116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un email sécurisé</a:t>
            </a:r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dès que vos résultats sont disponibles.</a:t>
            </a:r>
            <a:endParaRPr lang="en-US" sz="1350" dirty="0"/>
          </a:p>
          <a:p>
            <a:pPr marL="203200" indent="-2032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email contient un code d'accès personnel</a:t>
            </a:r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203200" indent="-2032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consultez vos résultats</a:t>
            </a:r>
            <a:pPr indent="0" marL="0">
              <a:lnSpc>
                <a:spcPts val="2000"/>
              </a:lnSpc>
              <a:spcAft>
                <a:spcPts val="800"/>
              </a:spcAft>
              <a:buNone/>
            </a:pPr>
            <a:r>
              <a:rPr lang="en-US" sz="13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la plateforme AvisDoc, de manière claire et confidentielle.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35295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SITUATIONS POSSIBLES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3877056"/>
            <a:ext cx="5431536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9525">
            <a:solidFill>
              <a:srgbClr val="ECE6DC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77824" y="4114800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anomalie n'est détectée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77824" y="4498848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votre dossier médical. Il n'y a rien d'autre à faire.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1344" y="3877056"/>
            <a:ext cx="5431536" cy="1956816"/>
          </a:xfrm>
          <a:prstGeom prst="roundRect">
            <a:avLst>
              <a:gd name="adj" fmla="val 2336"/>
            </a:avLst>
          </a:prstGeom>
          <a:solidFill>
            <a:srgbClr val="FDF1E9"/>
          </a:solidFill>
          <a:ln w="9525">
            <a:solidFill>
              <a:srgbClr val="F6D3BE"/>
            </a:solidFill>
            <a:prstDash val="solid"/>
          </a:ln>
          <a:effectLst>
            <a:outerShdw sx="100000" sy="100000" kx="0" ky="0" algn="bl" rotWithShape="0" blurRad="127000" dist="25400" dir="5400000">
              <a:srgbClr val="142A33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4114800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anomalie est détectée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4498848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votre dossier médical ainsi qu'une lettre d'adressage. Vous consultez ensuite soit le médecin de votre choix, soit un professionnel du réseau d'aval AvisDoc.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QUESTIONS FRÉQUENTES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22376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42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les collaborateurs </a:t>
            </a:r>
            <a:pPr indent="0" marL="0">
              <a:buNone/>
            </a:pPr>
            <a:r>
              <a:rPr lang="en-US" sz="2900" i="1" dirty="0">
                <a:solidFill>
                  <a:srgbClr val="0CA6D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nous demandent.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591056"/>
            <a:ext cx="5431536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73736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obligatoire 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6928" y="2048256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Non. La participation est entièrement volontaire.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724912"/>
            <a:ext cx="5431536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871216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temps cela prend-il 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3182112"/>
            <a:ext cx="5431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moyenne moins de 15 minutes.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5431536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005072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 déroule concrètement le dépistage 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4315968"/>
            <a:ext cx="5431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êtes accompagné(e) par un professionnel de santé formé. Des photos de vos grains de beauté sont prises, puis analysées à distance par un dermatologue. Vous recevez ensuite vos résultats.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90488" y="1591056"/>
            <a:ext cx="5431536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0488" y="1737360"/>
            <a:ext cx="5431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quelque chose nécessite une attention particulière 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190488" y="2304288"/>
            <a:ext cx="5431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 êtes informé(e) simplement et, si besoin, orienté(e) vers un réseau de professionnels de santé pour la suite de la prise en charge. Vous restez libre de vos démarches.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90488" y="3419856"/>
            <a:ext cx="5431536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0488" y="3566160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informations sont-elles confidentielles ?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190488" y="3877056"/>
            <a:ext cx="54315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Oui, totalement. Les données sont sécurisées et traitées dans le respect du RGPD. Votre employeur n'a accès à aucune information médicale individuelle.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193792"/>
            <a:ext cx="11057839" cy="658368"/>
          </a:xfrm>
          <a:prstGeom prst="roundRect">
            <a:avLst>
              <a:gd name="adj" fmla="val 6944"/>
            </a:avLst>
          </a:prstGeom>
          <a:solidFill>
            <a:srgbClr val="EAF6FB"/>
          </a:solidFill>
          <a:ln w="9525">
            <a:solidFill>
              <a:srgbClr val="CBE8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5193792"/>
            <a:ext cx="1043604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autre question ?  </a:t>
            </a:r>
            <a:pPr indent="0" marL="0">
              <a:buNone/>
            </a:pPr>
            <a:r>
              <a:rPr lang="en-US" sz="1300" dirty="0">
                <a:solidFill>
                  <a:srgbClr val="5C6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Adressez-vous à vos ressources humaines, ou écrivez à contact@avisdoc.fr.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6236208"/>
            <a:ext cx="11057839" cy="0"/>
          </a:xfrm>
          <a:prstGeom prst="line">
            <a:avLst/>
          </a:prstGeom>
          <a:noFill/>
          <a:ln w="9525">
            <a:solidFill>
              <a:srgbClr val="E3DC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6309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CA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</a:t>
            </a:r>
            <a:pPr indent="0" marL="0">
              <a:buNone/>
            </a:pPr>
            <a:r>
              <a:rPr lang="en-US" sz="1000" b="1" dirty="0">
                <a:solidFill>
                  <a:srgbClr val="EC77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</a:t>
            </a:r>
            <a:pPr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avisdoc.fr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38367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collaborateur 2026 · </a:t>
            </a:r>
            <a:pPr algn="r" indent="0" marL="0">
              <a:buNone/>
            </a:pPr>
            <a:r>
              <a:rPr lang="en-US" sz="1000" b="1" dirty="0">
                <a:solidFill>
                  <a:srgbClr val="14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A6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hotos/kit/logo_blanc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692640" y="566928"/>
            <a:ext cx="2606040" cy="2926080"/>
          </a:xfrm>
          <a:prstGeom prst="rect">
            <a:avLst/>
          </a:prstGeom>
        </p:spPr>
      </p:pic>
      <p:pic>
        <p:nvPicPr>
          <p:cNvPr id="3" name="Image 1" descr="assets/photos/kit/logo_blan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786384" cy="8869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928" y="26151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AvisDoc</a:t>
            </a: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566928" y="314553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dermatologie n'attend pas.</a:t>
            </a:r>
            <a:endParaRPr lang="en-US" sz="3700" dirty="0"/>
          </a:p>
        </p:txBody>
      </p:sp>
      <p:sp>
        <p:nvSpPr>
          <p:cNvPr id="6" name="Text 2"/>
          <p:cNvSpPr/>
          <p:nvPr/>
        </p:nvSpPr>
        <p:spPr>
          <a:xfrm>
            <a:off x="566928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56692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avisdoc.fr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858768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385876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contact@avisdoc.fr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150608" y="4443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DE7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RENDEZ-VOUS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150608" y="471830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Auprès de vos ressources humaines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AvisDoc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 collaborateur — Dépistage du cancer cutané</dc:title>
  <dc:subject>PptxGenJS Presentation</dc:subject>
  <dc:creator>AvisDoc</dc:creator>
  <cp:lastModifiedBy>AvisDoc</cp:lastModifiedBy>
  <cp:revision>1</cp:revision>
  <dcterms:created xsi:type="dcterms:W3CDTF">2026-07-23T12:27:13Z</dcterms:created>
  <dcterms:modified xsi:type="dcterms:W3CDTF">2026-07-23T12:27:13Z</dcterms:modified>
</cp:coreProperties>
</file>